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세션 시간 배분(분)</c:v>
                </c:pt>
              </c:strCache>
            </c:strRef>
          </c:tx>
          <c:spPr>
            <a:solidFill>
              <a:srgbClr val="67E8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7E8F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DD3F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도입</c:v>
                  </c:pt>
                  <c:pt idx="1">
                    <c:v>1부 사례</c:v>
                  </c:pt>
                  <c:pt idx="2">
                    <c:v>2부 감사</c:v>
                  </c:pt>
                  <c:pt idx="3">
                    <c:v>3부 실천</c:v>
                  </c:pt>
                  <c:pt idx="4">
                    <c:v>마무리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30</c:v>
                </c:pt>
                <c:pt idx="2">
                  <c:v>30</c:v>
                </c:pt>
                <c:pt idx="3">
                  <c:v>20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교훈 체감도(교육용)</c:v>
                </c:pt>
              </c:strCache>
            </c:strRef>
          </c:tx>
          <c:spPr>
            <a:solidFill>
              <a:srgbClr val="67E8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7E8F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착각 경계</c:v>
                  </c:pt>
                  <c:pt idx="1">
                    <c:v>작은 위반 누적</c:v>
                  </c:pt>
                  <c:pt idx="2">
                    <c:v>개인 책임</c:v>
                  </c:pt>
                  <c:pt idx="3">
                    <c:v>기관 신뢰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88</c:v>
                </c:pt>
                <c:pt idx="2">
                  <c:v>84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허용 기준(만원)</c:v>
                </c:pt>
              </c:strCache>
            </c:strRef>
          </c:tx>
          <c:spPr>
            <a:solidFill>
              <a:srgbClr val="67E8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7E8F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식사</c:v>
                  </c:pt>
                  <c:pt idx="1">
                    <c:v>선물</c:v>
                  </c:pt>
                  <c:pt idx="2">
                    <c:v>경조사비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국립해양유산연구소 청렴 교육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실제 사례로 배우는 청렴 실천 · 2026년 4월 · 강사: 청렴공정연구센터 대표강사 주양순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오늘 90분: 실제 사례 → 우리 연구소 점검 → 실천 가이드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연구기관일수록 회계·용역·대외접점 리스크가 높음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핵심: 청렴은 선택이 아닌 공직의 의무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2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강의 구조 안내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도입 5분 · 1부 30분 · 2부 30분 · 3부 20분 · 마무리 5분</a:t>
            </a:r>
            <a:endParaRPr lang="en-US" sz="18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868680" y="1920240"/>
          <a:ext cx="106070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3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1부 | 우리와 같은 연구기관 실제 사례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국립문화유산연구원 감사 사례(2024)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34B6FF">
              <a:alpha val="65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7E5CF6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핵심 내용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실무 대응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국립문화유산연구원: 본원+지방 연구소 체계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국가유산청 소속 책임운영기관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우리 기관과 뿌리·업무 구조 유사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2024 감사: 총 19건 처분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개인 처분 + 기관 경고 동시 발생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소수 위반이 기관 신뢰 전체에 영향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4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사건 1 개요: 회계 부정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2024년 10~11월 감사 적발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증빙 문서 미보관·부실관리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공공요금 이중 지급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회계 담당 임명 절차 위반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822960" y="3785616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78408" y="38862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회계연도 독립 원칙 위반(연도 이월 처리)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5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주요 위반 1 | 회계 조작의 본질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작은 편의가 국가 재정 질서 위반으로 연결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34B6FF">
              <a:alpha val="65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7E5CF6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핵심 내용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실무 대응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“자금 부족” 이유로 차년도 예산 전가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회계연도 독립 원칙 정면 위반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증빙 누락이 조작 의심을 증폭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지급 근거·결재선·일자 대조로 적발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담당자+관리자 동시 책임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예산편성·청렴평가 감점 리스크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6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주요 위반 2 | 허위 문서 작성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불부합 사유서 허위 서명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장부 잔액과 실제 집행액 불일치 사유를 거짓 기재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“맞지 않는데 맞다” 서명 = 중대한 규정 위반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문서 신뢰 붕괴는 기관 신뢰 붕괴로 직결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7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주요 위반 3 | 복무 관리 부실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공가 부정 사용 및 근무표 관리 미흡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34B6FF">
              <a:alpha val="65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7E5CF6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핵심 내용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실무 대응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건강검진 공가 후 실제 미검진 사례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근무상황표 확인·정정 절차 누락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승인 후 사후검증 체계 부재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복무 관련 경고·주의 처분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팀 내 공정성 인식 저하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인사평가·조직문화 악화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8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사례가 주는 교훈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연구기관도 예외가 없다</a:t>
            </a:r>
            <a:endParaRPr lang="en-US" sz="18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868680" y="1920240"/>
          <a:ext cx="106070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9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2부 | 우리 연구소 2024 감사 결과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국립해양유산연구소 자체종합감사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감사기간: 2024.7.8~7.26 (15일)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처분요구: 총 14건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경고 2명 · 주의 4명 · 모범사례 1건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10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지적사항 1 | 수의계약 부적정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사유 불명확 · 근거 서류 미비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34B6FF">
              <a:alpha val="65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7E5CF6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핵심 내용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실무 대응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원칙: 경쟁입찰, 예외: 수의계약 사유 명확화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사유서·시장조사·검토기록 미흡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계약근거 부실 시 특혜 의혹 발생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사전 단계: 사유 검토 체크리스트 운영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집행 단계: 결재·증빙·검토 흔적 확보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사후 단계: 표본 점검으로 재발 방지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11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지적사항 2 | 정부구매카드 원칙 위반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개인 용도 사용·증빙 미흡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정부구매카드는 공적 업무에만 사용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사후 변제해도 최초 위반 사실은 남음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사용 목적·증빙·결재 라인 일치 필수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12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지적사항 3 | 용역 완수검사 부적정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해상 전시선박 처분 용역 사례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34B6FF">
              <a:alpha val="65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7E5CF6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핵심 내용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실무 대응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업체 “완료” 보고만으로 종결 금지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현장 실사·사진·검수표 필수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품질기준/계약조건 일치 점검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검사 조서에 미비점·보완기한 명시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재검수 완료 전 대금지급 제한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안전·환경 항목 별도 확인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13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지적사항 4 | 특수건강진단 미흡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산업안전보건법 제130조 관련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유해물질 취급 인력의 기한 내 진단 누락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진단 후 사후조치 기록 미흡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과태료 리스크 + 직원 건강 리스크 동시 발생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14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우리의 반성 포인트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바쁨·안일함·방심을 절차로 통제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34B6FF">
              <a:alpha val="65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7E5CF6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핵심 내용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실무 대응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미루기·관행·암묵적 예외를 공식 절차로 전환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“작은 위반” 인식 자체를 제거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업무 종료 당일 증빙 정리 원칙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월간 자가점검(계약·카드·검사·복무)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부서장 사전검토 + 교차검토 체계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상시 준법 기반으로 감사 리스크 선제 차단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15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3부 | 청렴 실천 가이드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이제 우리가 할 일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청탁금지법 기준을 상황별로 즉시 적용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의심 상황은 “수령 금지 → 보고” 원칙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개인 판단 대신 팀 기준·체크리스트 사용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16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청탁금지법 핵심 수치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실무자가 즉시 판단해야 할 기준</a:t>
            </a:r>
            <a:endParaRPr lang="en-US" sz="18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868680" y="1920240"/>
          <a:ext cx="106070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17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실전 시나리오 A/B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업체 식사 · 유물 기증자 선물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34B6FF">
              <a:alpha val="65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7E5CF6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핵심 내용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실무 대응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용역업체 1인 8만원 식사 제안: 거절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직무 관련자 + 식사 3만원 초과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대응 멘트: “규정상 어려워요, 양해 부탁드립니다.”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기증자 10만원 선물세트: 수령 불가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직무 관련 + 선물 5만원 초과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대응 멘트: “마음만 감사히 받겠습니다.”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18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실전 시나리오 C + 내부 신고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학회 기념품 예외 · 신고 보호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34B6FF">
              <a:alpha val="65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7E5CF6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핵심 내용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실무 대응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참석자 전원 동일 제공 기념품은 예외 가능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특정 공무원 대상 제공은 금지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애매하면 사전 문의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국민권익위 110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청탁금지법 상담 1398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C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익명 보장·신분 보호·불이익 금지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19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배포용 체크리스트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계약·카드·용역검사·건강진단·금품수수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수의계약 사유 문서화 / 경쟁입찰 원칙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카드 사용 즉시 증빙 / 개인 용도 금지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용역 현장검사 + 조서 상세 기록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822960" y="3785616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78408" y="38862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특수건강진단 기한 관리 및 사후조치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822960" y="4407408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78408" y="450799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의심 상황: 수령 금지, 즉시 상담·신고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OO/.cursor/projects/c-Users-JOO-Desktop-ethics-coreai/assets/c__Users_JOO_AppData_Roaming_Cursor_User_workspaceStorage_3037854bf79cbb29d4009c1fd64efc42_images_image-af0cf685-6ed3-4d2c-baba-9485dc5f8c97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9CFF">
              <a:alpha val="10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9142A">
              <a:alpha val="90000"/>
            </a:srgbClr>
          </a:solidFill>
          <a:ln w="16510">
            <a:solidFill>
              <a:srgbClr val="6CCBFF">
                <a:alpha val="72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20 / 20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Gmarket Sans TTF Medium" pitchFamily="34" charset="0"/>
                <a:ea typeface="Gmarket Sans TTF Medium" pitchFamily="34" charset="-122"/>
                <a:cs typeface="Gmarket Sans TTF Medium" pitchFamily="34" charset="-120"/>
              </a:rPr>
              <a:t>마무리 &amp; Q&amp;A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청렴한 연구소만이 국민의 신뢰를 받습니다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핵심: 청렴은 의무, 작은 위반도 기관 리스크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절차 준수가 나와 동료를 지킨다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market Sans TTF Light" pitchFamily="34" charset="0"/>
                <a:ea typeface="Gmarket Sans TTF Light" pitchFamily="34" charset="-122"/>
                <a:cs typeface="Gmarket Sans TTF Light" pitchFamily="34" charset="-120"/>
              </a:rPr>
              <a:t>• 질문 및 추가 문의: 110 / 1398 / 연구소 감사담당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국립해양유산연구소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국립해양유산연구소 청렴 교육 20장</dc:title>
  <dc:subject>PptxGenJS Presentation</dc:subject>
  <dc:creator>Ethics-Core AI</dc:creator>
  <cp:lastModifiedBy>Ethics-Core AI</cp:lastModifiedBy>
  <cp:revision>1</cp:revision>
  <dcterms:created xsi:type="dcterms:W3CDTF">2026-04-27T10:03:52Z</dcterms:created>
  <dcterms:modified xsi:type="dcterms:W3CDTF">2026-04-27T10:03:52Z</dcterms:modified>
</cp:coreProperties>
</file>